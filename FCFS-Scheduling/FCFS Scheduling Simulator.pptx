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5" r:id="rId3"/>
    <p:sldId id="266" r:id="rId4"/>
    <p:sldId id="267" r:id="rId5"/>
    <p:sldId id="269" r:id="rId6"/>
    <p:sldId id="271" r:id="rId7"/>
    <p:sldId id="272" r:id="rId8"/>
    <p:sldId id="273" r:id="rId9"/>
    <p:sldId id="274" r:id="rId10"/>
    <p:sldId id="276" r:id="rId11"/>
    <p:sldId id="277" r:id="rId12"/>
    <p:sldId id="278" r:id="rId13"/>
    <p:sldId id="279" r:id="rId14"/>
    <p:sldId id="280" r:id="rId15"/>
    <p:sldId id="281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8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5/12/2026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5/12/2026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677482"/>
            <a:ext cx="10058400" cy="9361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FCFS Scheduling Simulator</a:t>
            </a:r>
            <a:br>
              <a:rPr lang="en-US" b="1" dirty="0"/>
            </a:br>
            <a:r>
              <a:rPr lang="en-US" sz="2000" b="1" dirty="0"/>
              <a:t>Using HTML, CSS, and JavaScript</a:t>
            </a:r>
            <a:br>
              <a:rPr lang="en-US" b="1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665" y="1700808"/>
            <a:ext cx="10058400" cy="4176464"/>
          </a:xfrm>
        </p:spPr>
        <p:txBody>
          <a:bodyPr>
            <a:normAutofit/>
          </a:bodyPr>
          <a:lstStyle/>
          <a:p>
            <a:pPr algn="ctr"/>
            <a:r>
              <a:rPr lang="en-PH" sz="2400" dirty="0">
                <a:solidFill>
                  <a:schemeClr val="tx1"/>
                </a:solidFill>
              </a:rPr>
              <a:t>Members: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Princess Abegail D. </a:t>
            </a:r>
            <a:r>
              <a:rPr lang="en-PH" sz="2400" dirty="0" err="1">
                <a:solidFill>
                  <a:schemeClr val="tx1"/>
                </a:solidFill>
              </a:rPr>
              <a:t>Benitiz</a:t>
            </a:r>
            <a:endParaRPr lang="en-PH" sz="2400" dirty="0">
              <a:solidFill>
                <a:schemeClr val="tx1"/>
              </a:solidFill>
            </a:endParaRP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Leila Mae C. Cajes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Carl Anthony Astillo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Aliaza </a:t>
            </a:r>
            <a:r>
              <a:rPr lang="en-PH" sz="2400" dirty="0" err="1">
                <a:solidFill>
                  <a:schemeClr val="tx1"/>
                </a:solidFill>
              </a:rPr>
              <a:t>Leoligao</a:t>
            </a:r>
            <a:endParaRPr lang="en-PH" sz="2400" dirty="0">
              <a:solidFill>
                <a:schemeClr val="tx1"/>
              </a:solidFill>
            </a:endParaRP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Gabriel </a:t>
            </a:r>
            <a:r>
              <a:rPr lang="en-PH" sz="2400" dirty="0" err="1">
                <a:solidFill>
                  <a:schemeClr val="tx1"/>
                </a:solidFill>
              </a:rPr>
              <a:t>Latojao</a:t>
            </a:r>
            <a:endParaRPr lang="en-PH" sz="2400" dirty="0">
              <a:solidFill>
                <a:schemeClr val="tx1"/>
              </a:solidFill>
            </a:endParaRP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Angel </a:t>
            </a:r>
            <a:r>
              <a:rPr lang="en-PH" sz="2400" dirty="0" err="1">
                <a:solidFill>
                  <a:schemeClr val="tx1"/>
                </a:solidFill>
              </a:rPr>
              <a:t>Boncales</a:t>
            </a:r>
            <a:endParaRPr lang="en-PH" sz="2400" dirty="0">
              <a:solidFill>
                <a:schemeClr val="tx1"/>
              </a:solidFill>
            </a:endParaRP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Clark Magdadaro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Jhon Philip Padillo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Nova Jessica Y. Cuizon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Pamela Camacho</a:t>
            </a:r>
          </a:p>
          <a:p>
            <a:pPr algn="ctr"/>
            <a:r>
              <a:rPr lang="en-PH" sz="2400" dirty="0">
                <a:solidFill>
                  <a:schemeClr val="tx1"/>
                </a:solidFill>
              </a:rPr>
              <a:t>Elmer Roble</a:t>
            </a:r>
          </a:p>
          <a:p>
            <a:endParaRPr lang="en-PH" sz="2400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667544"/>
          </a:xfrm>
        </p:spPr>
        <p:txBody>
          <a:bodyPr/>
          <a:lstStyle/>
          <a:p>
            <a:r>
              <a:rPr lang="en-PH" dirty="0"/>
              <a:t>Table of Contents</a:t>
            </a:r>
            <a:endParaRPr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30D05F-1EDF-7620-9AB6-915242A9AA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6050" y="1295400"/>
            <a:ext cx="9144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FCFS Scheduling Algorithm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Principle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of the Project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Gantt Chart Explanation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 Input and Output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and Disadvantages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053" y="218660"/>
            <a:ext cx="9144000" cy="360040"/>
          </a:xfrm>
        </p:spPr>
        <p:txBody>
          <a:bodyPr>
            <a:normAutofit fontScale="90000"/>
          </a:bodyPr>
          <a:lstStyle/>
          <a:p>
            <a:r>
              <a:rPr lang="en-PH" dirty="0"/>
              <a:t>Introduction</a:t>
            </a:r>
            <a:endParaRPr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F01EE2A-6CB0-3176-2205-825430B4D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78700"/>
            <a:ext cx="9684568" cy="6162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        The FCFS Scheduling Simulator is a web-based application developed to simulate the First Come First Serve (FCFS) CPU scheduling algorithm used in Operating Systems.</a:t>
            </a:r>
          </a:p>
          <a:p>
            <a:pPr marL="0" indent="0">
              <a:buNone/>
            </a:pPr>
            <a:r>
              <a:rPr lang="en-US" dirty="0"/>
              <a:t>         The simulator helps users understand how processes are executed according to their arrival time. It provides visual representation through a Gantt Chart and calculates important scheduling parameters such as:</a:t>
            </a:r>
          </a:p>
          <a:p>
            <a:r>
              <a:rPr lang="en-US" dirty="0"/>
              <a:t>Completion Time </a:t>
            </a:r>
          </a:p>
          <a:p>
            <a:r>
              <a:rPr lang="en-US" dirty="0"/>
              <a:t>Waiting Time </a:t>
            </a:r>
          </a:p>
          <a:p>
            <a:r>
              <a:rPr lang="en-US" dirty="0"/>
              <a:t>Turnaround Time </a:t>
            </a:r>
          </a:p>
          <a:p>
            <a:r>
              <a:rPr lang="en-US" dirty="0"/>
              <a:t>Average Waiting Time </a:t>
            </a:r>
          </a:p>
          <a:p>
            <a:r>
              <a:rPr lang="en-US" dirty="0"/>
              <a:t>Average Turnaround Time </a:t>
            </a:r>
          </a:p>
          <a:p>
            <a:r>
              <a:rPr lang="en-US" dirty="0"/>
              <a:t>The project is developed using:</a:t>
            </a:r>
          </a:p>
          <a:p>
            <a:r>
              <a:rPr lang="en-US" dirty="0"/>
              <a:t>HTML </a:t>
            </a:r>
          </a:p>
          <a:p>
            <a:r>
              <a:rPr lang="en-US" dirty="0"/>
              <a:t>CSS </a:t>
            </a:r>
          </a:p>
          <a:p>
            <a:r>
              <a:rPr lang="en-US" dirty="0"/>
              <a:t>JavaScript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8" y="116632"/>
            <a:ext cx="9144000" cy="520824"/>
          </a:xfrm>
        </p:spPr>
        <p:txBody>
          <a:bodyPr>
            <a:normAutofit fontScale="90000"/>
          </a:bodyPr>
          <a:lstStyle/>
          <a:p>
            <a:r>
              <a:rPr lang="en-PH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908721"/>
            <a:ext cx="9828584" cy="5187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objectives of this project are:</a:t>
            </a:r>
          </a:p>
          <a:p>
            <a:r>
              <a:rPr lang="en-US" dirty="0"/>
              <a:t>To understand FCFS CPU scheduling </a:t>
            </a:r>
          </a:p>
          <a:p>
            <a:r>
              <a:rPr lang="en-US" dirty="0"/>
              <a:t>To simulate process execution visually </a:t>
            </a:r>
          </a:p>
          <a:p>
            <a:r>
              <a:rPr lang="en-US" dirty="0"/>
              <a:t>To calculate scheduling parameters </a:t>
            </a:r>
          </a:p>
          <a:p>
            <a:r>
              <a:rPr lang="en-US" dirty="0"/>
              <a:t>To create an interactive scheduling environment </a:t>
            </a:r>
          </a:p>
          <a:p>
            <a:r>
              <a:rPr lang="en-US" dirty="0"/>
              <a:t>To improve understanding of Operating System concepts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523528"/>
          </a:xfrm>
        </p:spPr>
        <p:txBody>
          <a:bodyPr>
            <a:normAutofit fontScale="90000"/>
          </a:bodyPr>
          <a:lstStyle/>
          <a:p>
            <a:r>
              <a:rPr lang="en-PH" dirty="0"/>
              <a:t>Technologies Used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769603-4420-1409-63CE-66F79AF38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02108"/>
              </p:ext>
            </p:extLst>
          </p:nvPr>
        </p:nvGraphicFramePr>
        <p:xfrm>
          <a:off x="1524000" y="1700808"/>
          <a:ext cx="9144000" cy="299311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73795156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86297514"/>
                    </a:ext>
                  </a:extLst>
                </a:gridCol>
              </a:tblGrid>
              <a:tr h="74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088597"/>
                  </a:ext>
                </a:extLst>
              </a:tr>
              <a:tr h="74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Structure of webpage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878072"/>
                  </a:ext>
                </a:extLst>
              </a:tr>
              <a:tr h="74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Styling and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1927"/>
                  </a:ext>
                </a:extLst>
              </a:tr>
              <a:tr h="748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dirty="0"/>
                        <a:t>Logic and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114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452263"/>
            <a:ext cx="9144000" cy="619472"/>
          </a:xfrm>
        </p:spPr>
        <p:txBody>
          <a:bodyPr>
            <a:normAutofit/>
          </a:bodyPr>
          <a:lstStyle/>
          <a:p>
            <a:r>
              <a:rPr lang="en-PH" sz="3100" dirty="0"/>
              <a:t>FCFS Scheduling Algorithm</a:t>
            </a:r>
            <a:endParaRPr sz="31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124744"/>
            <a:ext cx="8457384" cy="1389856"/>
          </a:xfrm>
        </p:spPr>
        <p:txBody>
          <a:bodyPr>
            <a:normAutofit/>
          </a:bodyPr>
          <a:lstStyle/>
          <a:p>
            <a:r>
              <a:rPr lang="en-US" dirty="0"/>
              <a:t>FCFS stands for </a:t>
            </a:r>
            <a:r>
              <a:rPr lang="en-US" b="1" dirty="0"/>
              <a:t>First Come First Serve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is the simplest CPU scheduling algorithm where:</a:t>
            </a:r>
          </a:p>
          <a:p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8889432" cy="3581401"/>
          </a:xfrm>
        </p:spPr>
        <p:txBody>
          <a:bodyPr/>
          <a:lstStyle/>
          <a:p>
            <a:r>
              <a:rPr lang="en-US" dirty="0"/>
              <a:t>The process that arrives first gets executed first. </a:t>
            </a:r>
          </a:p>
          <a:p>
            <a:r>
              <a:rPr lang="en-US" dirty="0"/>
              <a:t>Processes are executed in queue order. </a:t>
            </a:r>
          </a:p>
          <a:p>
            <a:r>
              <a:rPr lang="en-US" dirty="0"/>
              <a:t>Once a process starts execution, it runs until completion. </a:t>
            </a:r>
          </a:p>
          <a:p>
            <a:pPr marL="0" indent="0">
              <a:buNone/>
            </a:pPr>
            <a:r>
              <a:rPr lang="en-US" dirty="0"/>
              <a:t>FCFS is a </a:t>
            </a:r>
            <a:r>
              <a:rPr lang="en-US" b="1" dirty="0"/>
              <a:t>non-preemptive scheduling algorithm</a:t>
            </a:r>
            <a:r>
              <a:rPr lang="en-US" dirty="0"/>
              <a:t>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260648"/>
            <a:ext cx="9144000" cy="691480"/>
          </a:xfrm>
        </p:spPr>
        <p:txBody>
          <a:bodyPr>
            <a:normAutofit/>
          </a:bodyPr>
          <a:lstStyle/>
          <a:p>
            <a:r>
              <a:rPr lang="en-PH" sz="3100" dirty="0"/>
              <a:t>Working Principle</a:t>
            </a:r>
            <a:endParaRPr sz="3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CD1BA-4081-9085-CAEA-315772D4D791}"/>
              </a:ext>
            </a:extLst>
          </p:cNvPr>
          <p:cNvSpPr txBox="1">
            <a:spLocks/>
          </p:cNvSpPr>
          <p:nvPr/>
        </p:nvSpPr>
        <p:spPr>
          <a:xfrm>
            <a:off x="551384" y="1255169"/>
            <a:ext cx="5472608" cy="53285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dirty="0"/>
              <a:t>The project consists of three major components:</a:t>
            </a:r>
          </a:p>
          <a:p>
            <a:pPr marL="0" indent="0">
              <a:buNone/>
            </a:pPr>
            <a:r>
              <a:rPr lang="en-PH" b="1" dirty="0"/>
              <a:t>Frontend</a:t>
            </a:r>
          </a:p>
          <a:p>
            <a:r>
              <a:rPr lang="en-PH" dirty="0"/>
              <a:t>Developed using HTML and CSS for:</a:t>
            </a:r>
          </a:p>
          <a:p>
            <a:r>
              <a:rPr lang="en-PH" dirty="0"/>
              <a:t>User interface </a:t>
            </a:r>
          </a:p>
          <a:p>
            <a:r>
              <a:rPr lang="en-PH" dirty="0"/>
              <a:t>Tables </a:t>
            </a:r>
          </a:p>
          <a:p>
            <a:r>
              <a:rPr lang="en-PH" dirty="0"/>
              <a:t>Buttons </a:t>
            </a:r>
          </a:p>
          <a:p>
            <a:r>
              <a:rPr lang="en-PH" dirty="0"/>
              <a:t>Gantt Chart design </a:t>
            </a:r>
          </a:p>
          <a:p>
            <a:endParaRPr lang="en-PH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CFEB2B-054F-6C8D-D511-B3DEB3A0B701}"/>
              </a:ext>
            </a:extLst>
          </p:cNvPr>
          <p:cNvSpPr txBox="1">
            <a:spLocks/>
          </p:cNvSpPr>
          <p:nvPr/>
        </p:nvSpPr>
        <p:spPr>
          <a:xfrm>
            <a:off x="6087143" y="1255169"/>
            <a:ext cx="5472608" cy="53285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PH" b="1" dirty="0"/>
              <a:t>Logic Processing</a:t>
            </a:r>
          </a:p>
          <a:p>
            <a:r>
              <a:rPr lang="en-PH" dirty="0"/>
              <a:t>JavaScript handles:</a:t>
            </a:r>
          </a:p>
          <a:p>
            <a:r>
              <a:rPr lang="en-PH" dirty="0"/>
              <a:t>Process sorting </a:t>
            </a:r>
          </a:p>
          <a:p>
            <a:r>
              <a:rPr lang="en-PH" dirty="0"/>
              <a:t>FCFS calculations </a:t>
            </a:r>
          </a:p>
          <a:p>
            <a:r>
              <a:rPr lang="en-PH" dirty="0"/>
              <a:t>Dynamic updates </a:t>
            </a:r>
          </a:p>
          <a:p>
            <a:pPr marL="0" indent="0">
              <a:buNone/>
            </a:pPr>
            <a:r>
              <a:rPr lang="en-PH" b="1" dirty="0"/>
              <a:t>Visualization</a:t>
            </a:r>
          </a:p>
          <a:p>
            <a:r>
              <a:rPr lang="en-PH" dirty="0"/>
              <a:t>The Gantt Chart displays:</a:t>
            </a:r>
          </a:p>
          <a:p>
            <a:r>
              <a:rPr lang="en-PH" dirty="0"/>
              <a:t>Process execution order </a:t>
            </a:r>
          </a:p>
          <a:p>
            <a:r>
              <a:rPr lang="en-PH" dirty="0"/>
              <a:t>Start time </a:t>
            </a:r>
          </a:p>
          <a:p>
            <a:r>
              <a:rPr lang="en-PH" dirty="0"/>
              <a:t>Completion time</a:t>
            </a:r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1D4C-B68A-DA40-2759-553A5C262E16}"/>
              </a:ext>
            </a:extLst>
          </p:cNvPr>
          <p:cNvSpPr txBox="1">
            <a:spLocks/>
          </p:cNvSpPr>
          <p:nvPr/>
        </p:nvSpPr>
        <p:spPr>
          <a:xfrm>
            <a:off x="1199456" y="452263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Features of the Project</a:t>
            </a:r>
            <a:endParaRPr lang="en-PH" sz="3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F4E6-CF16-945C-D55D-5D94844867B4}"/>
              </a:ext>
            </a:extLst>
          </p:cNvPr>
          <p:cNvSpPr txBox="1">
            <a:spLocks/>
          </p:cNvSpPr>
          <p:nvPr/>
        </p:nvSpPr>
        <p:spPr>
          <a:xfrm>
            <a:off x="551384" y="1255169"/>
            <a:ext cx="5472608" cy="53285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Add Process</a:t>
            </a:r>
          </a:p>
          <a:p>
            <a:pPr marL="0" indent="0">
              <a:buNone/>
            </a:pPr>
            <a:r>
              <a:rPr lang="en-US" dirty="0"/>
              <a:t>Users can dynamically add multiple processes.</a:t>
            </a:r>
          </a:p>
          <a:p>
            <a:pPr marL="0" indent="0">
              <a:buNone/>
            </a:pPr>
            <a:r>
              <a:rPr lang="en-US" b="1" dirty="0"/>
              <a:t>Input Fields</a:t>
            </a:r>
          </a:p>
          <a:p>
            <a:pPr marL="0" indent="0">
              <a:buNone/>
            </a:pPr>
            <a:r>
              <a:rPr lang="en-US" dirty="0"/>
              <a:t>Users enter:</a:t>
            </a:r>
          </a:p>
          <a:p>
            <a:r>
              <a:rPr lang="en-US" dirty="0"/>
              <a:t>Arrival Time </a:t>
            </a:r>
          </a:p>
          <a:p>
            <a:r>
              <a:rPr lang="en-US" dirty="0"/>
              <a:t>Burst Time </a:t>
            </a:r>
          </a:p>
          <a:p>
            <a:pPr marL="0" indent="0">
              <a:buNone/>
            </a:pPr>
            <a:r>
              <a:rPr lang="en-US" b="1" dirty="0"/>
              <a:t>FCFS Calculation</a:t>
            </a:r>
          </a:p>
          <a:p>
            <a:pPr marL="0" indent="0">
              <a:buNone/>
            </a:pPr>
            <a:r>
              <a:rPr lang="en-US" dirty="0"/>
              <a:t>Calculates:</a:t>
            </a:r>
          </a:p>
          <a:p>
            <a:r>
              <a:rPr lang="en-US" dirty="0"/>
              <a:t>Completion Time </a:t>
            </a:r>
          </a:p>
          <a:p>
            <a:r>
              <a:rPr lang="en-US" dirty="0"/>
              <a:t>Waiting Time </a:t>
            </a:r>
          </a:p>
          <a:p>
            <a:r>
              <a:rPr lang="en-US" dirty="0"/>
              <a:t>Turnaround Time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5F2A873-E317-9B26-7A69-035DABD1518F}"/>
              </a:ext>
            </a:extLst>
          </p:cNvPr>
          <p:cNvSpPr txBox="1">
            <a:spLocks/>
          </p:cNvSpPr>
          <p:nvPr/>
        </p:nvSpPr>
        <p:spPr>
          <a:xfrm>
            <a:off x="5951984" y="1255169"/>
            <a:ext cx="5472608" cy="53285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Dynamic Result Table</a:t>
            </a:r>
          </a:p>
          <a:p>
            <a:pPr marL="0" indent="0">
              <a:buNone/>
            </a:pPr>
            <a:r>
              <a:rPr lang="en-US" dirty="0"/>
              <a:t>Displays calculated scheduling results.</a:t>
            </a:r>
          </a:p>
          <a:p>
            <a:pPr marL="0" indent="0">
              <a:buNone/>
            </a:pPr>
            <a:r>
              <a:rPr lang="en-US" b="1" dirty="0"/>
              <a:t>Gantt Chart</a:t>
            </a:r>
          </a:p>
          <a:p>
            <a:pPr marL="0" indent="0">
              <a:buNone/>
            </a:pPr>
            <a:r>
              <a:rPr lang="en-US" dirty="0"/>
              <a:t>Provides visual execution representation.</a:t>
            </a:r>
          </a:p>
          <a:p>
            <a:pPr marL="0" indent="0">
              <a:buNone/>
            </a:pPr>
            <a:r>
              <a:rPr lang="en-US" b="1" dirty="0"/>
              <a:t>Average Calculations</a:t>
            </a:r>
          </a:p>
          <a:p>
            <a:pPr marL="0" indent="0">
              <a:buNone/>
            </a:pPr>
            <a:r>
              <a:rPr lang="en-US" dirty="0"/>
              <a:t>Displays:</a:t>
            </a:r>
          </a:p>
          <a:p>
            <a:r>
              <a:rPr lang="en-US" dirty="0"/>
              <a:t>Average Waiting Time </a:t>
            </a:r>
          </a:p>
          <a:p>
            <a:r>
              <a:rPr lang="en-US" dirty="0"/>
              <a:t>Average Turnaround Time</a:t>
            </a:r>
          </a:p>
        </p:txBody>
      </p:sp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0412" y="1268760"/>
                <a:ext cx="4831532" cy="4827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PH" b="1" dirty="0"/>
                  <a:t>Completion Time</a:t>
                </a:r>
              </a:p>
              <a:p>
                <a:pPr marL="0" indent="0">
                  <a:buNone/>
                </a:pPr>
                <a:r>
                  <a:rPr lang="en-PH" dirty="0"/>
                  <a:t>Completion Time = Start Time + Burst Time</a:t>
                </a:r>
                <a:br>
                  <a:rPr lang="en-PH" dirty="0"/>
                </a:br>
                <a:endParaRPr lang="en-PH" dirty="0"/>
              </a:p>
              <a:p>
                <a:pPr marL="0" indent="0">
                  <a:buNone/>
                </a:pPr>
                <a:r>
                  <a:rPr lang="en-PH" b="1" dirty="0"/>
                  <a:t>Turnaround Time</a:t>
                </a:r>
              </a:p>
              <a:p>
                <a14:m>
                  <m:oMath xmlns:m="http://schemas.openxmlformats.org/officeDocument/2006/math">
                    <m:r>
                      <a:rPr lang="en-PH" i="1"/>
                      <m:t>𝑇𝐴𝑇</m:t>
                    </m:r>
                    <m:r>
                      <a:rPr lang="en-PH"/>
                      <m:t>=</m:t>
                    </m:r>
                    <m:r>
                      <a:rPr lang="en-PH" i="1"/>
                      <m:t>𝐶𝑜𝑚𝑝𝑙𝑒𝑡𝑖𝑜𝑛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𝑇𝑖𝑚𝑒</m:t>
                    </m:r>
                    <m:r>
                      <a:rPr lang="en-PH"/>
                      <m:t>−</m:t>
                    </m:r>
                    <m:r>
                      <a:rPr lang="en-PH" i="1"/>
                      <m:t>𝐴𝑟𝑟𝑖𝑣𝑎𝑙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𝑇𝑖𝑚𝑒</m:t>
                    </m:r>
                  </m:oMath>
                </a14:m>
                <a:br>
                  <a:rPr lang="en-PH" dirty="0"/>
                </a:br>
                <a:endParaRPr lang="en-PH" dirty="0"/>
              </a:p>
              <a:p>
                <a:pPr marL="0" indent="0">
                  <a:buNone/>
                </a:pPr>
                <a:r>
                  <a:rPr lang="en-PH" b="1" dirty="0"/>
                  <a:t>Waiting Time</a:t>
                </a:r>
              </a:p>
              <a:p>
                <a14:m>
                  <m:oMath xmlns:m="http://schemas.openxmlformats.org/officeDocument/2006/math">
                    <m:r>
                      <a:rPr lang="en-PH" i="1"/>
                      <m:t>𝑊𝑇</m:t>
                    </m:r>
                    <m:r>
                      <a:rPr lang="en-PH"/>
                      <m:t>=</m:t>
                    </m:r>
                    <m:r>
                      <a:rPr lang="en-PH" i="1"/>
                      <m:t>𝑇𝑢𝑟𝑛𝑎𝑟𝑜𝑢𝑛𝑑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𝑇𝑖𝑚𝑒</m:t>
                    </m:r>
                    <m:r>
                      <a:rPr lang="en-PH"/>
                      <m:t>−</m:t>
                    </m:r>
                    <m:r>
                      <a:rPr lang="en-PH" i="1"/>
                      <m:t>𝐵𝑢𝑟𝑠𝑡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𝑇𝑖𝑚𝑒</m:t>
                    </m:r>
                  </m:oMath>
                </a14:m>
                <a:endParaRPr lang="en-PH" dirty="0"/>
              </a:p>
              <a:p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0412" y="1268760"/>
                <a:ext cx="4831532" cy="4827240"/>
              </a:xfrm>
              <a:blipFill>
                <a:blip r:embed="rId2"/>
                <a:stretch>
                  <a:fillRect l="-1389" t="-126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C84EC25A-D1D3-4FC6-2ED3-7259B4A5CB45}"/>
              </a:ext>
            </a:extLst>
          </p:cNvPr>
          <p:cNvSpPr txBox="1">
            <a:spLocks/>
          </p:cNvSpPr>
          <p:nvPr/>
        </p:nvSpPr>
        <p:spPr>
          <a:xfrm>
            <a:off x="1199456" y="452263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Formula Used</a:t>
            </a:r>
            <a:endParaRPr lang="en-PH" sz="3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A634940-4671-29BE-7FFE-C8C5503414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8319" y="1484784"/>
                <a:ext cx="4831532" cy="482724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000" kern="1200">
                    <a:solidFill>
                      <a:schemeClr val="tx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59436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800" kern="1200">
                    <a:solidFill>
                      <a:schemeClr val="tx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600" kern="1200">
                    <a:solidFill>
                      <a:schemeClr val="tx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23444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50876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78308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3172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06040" indent="-228600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PH" b="1" dirty="0"/>
                  <a:t>Average Waiting Time</a:t>
                </a:r>
              </a:p>
              <a:p>
                <a14:m>
                  <m:oMath xmlns:m="http://schemas.openxmlformats.org/officeDocument/2006/math">
                    <m:r>
                      <a:rPr lang="en-PH" i="1"/>
                      <m:t>𝐴𝑣𝑒𝑟𝑎𝑔𝑒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𝑊𝑇</m:t>
                    </m:r>
                    <m:r>
                      <a:rPr lang="en-PH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𝑇𝑜𝑡𝑎𝑙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𝑊𝑎𝑖𝑡𝑖𝑛𝑔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𝑇𝑖𝑚𝑒</m:t>
                        </m:r>
                      </m:num>
                      <m:den>
                        <m:r>
                          <a:rPr lang="ar-AE" i="1"/>
                          <m:t>𝑁𝑢𝑚𝑏𝑒𝑟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𝑜𝑓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𝑃𝑟𝑜𝑐𝑒𝑠𝑠𝑒𝑠</m:t>
                        </m:r>
                      </m:den>
                    </m:f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en-PH" b="1" dirty="0"/>
                  <a:t>Average Turnaround Time</a:t>
                </a:r>
              </a:p>
              <a:p>
                <a14:m>
                  <m:oMath xmlns:m="http://schemas.openxmlformats.org/officeDocument/2006/math">
                    <m:r>
                      <a:rPr lang="en-PH" i="1"/>
                      <m:t>𝐴𝑣𝑒𝑟𝑎𝑔𝑒</m:t>
                    </m:r>
                    <m:r>
                      <m:rPr>
                        <m:nor/>
                      </m:rPr>
                      <a:rPr lang="en-PH" i="1"/>
                      <m:t> </m:t>
                    </m:r>
                    <m:r>
                      <a:rPr lang="en-PH" i="1"/>
                      <m:t>𝑇𝐴𝑇</m:t>
                    </m:r>
                    <m:r>
                      <a:rPr lang="en-PH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𝑇𝑜𝑡𝑎𝑙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𝑇𝑢𝑟𝑛𝑎𝑟𝑜𝑢𝑛𝑑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𝑇𝑖𝑚𝑒</m:t>
                        </m:r>
                      </m:num>
                      <m:den>
                        <m:r>
                          <a:rPr lang="ar-AE" i="1"/>
                          <m:t>𝑁𝑢𝑚𝑏𝑒𝑟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𝑜𝑓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 i="1"/>
                          <m:t>𝑃𝑟𝑜𝑐𝑒𝑠𝑠𝑒𝑠</m:t>
                        </m:r>
                      </m:den>
                    </m:f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A634940-4671-29BE-7FFE-C8C550341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319" y="1484784"/>
                <a:ext cx="4831532" cy="4827240"/>
              </a:xfrm>
              <a:prstGeom prst="rect">
                <a:avLst/>
              </a:prstGeom>
              <a:blipFill>
                <a:blip r:embed="rId3"/>
                <a:stretch>
                  <a:fillRect l="-1261" t="-139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03E5-98AE-B34C-02F3-F2848E8F9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196752"/>
            <a:ext cx="2808312" cy="5334000"/>
          </a:xfrm>
        </p:spPr>
        <p:txBody>
          <a:bodyPr>
            <a:normAutofit/>
          </a:bodyPr>
          <a:lstStyle/>
          <a:p>
            <a:r>
              <a:rPr lang="en-US" b="1" dirty="0"/>
              <a:t>HTML</a:t>
            </a:r>
          </a:p>
          <a:p>
            <a:pPr marL="0" indent="0">
              <a:buNone/>
            </a:pPr>
            <a:r>
              <a:rPr lang="en-US" dirty="0"/>
              <a:t>Used to create:</a:t>
            </a:r>
          </a:p>
          <a:p>
            <a:r>
              <a:rPr lang="en-US" dirty="0"/>
              <a:t>Tables </a:t>
            </a:r>
          </a:p>
          <a:p>
            <a:r>
              <a:rPr lang="en-US" dirty="0"/>
              <a:t>Input fields </a:t>
            </a:r>
          </a:p>
          <a:p>
            <a:r>
              <a:rPr lang="en-US" dirty="0"/>
              <a:t>Buttons </a:t>
            </a:r>
          </a:p>
          <a:p>
            <a:r>
              <a:rPr lang="en-US" dirty="0"/>
              <a:t>Containers </a:t>
            </a:r>
          </a:p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ABD7B2-E3C7-B47F-F8C1-62FB49EBFE01}"/>
              </a:ext>
            </a:extLst>
          </p:cNvPr>
          <p:cNvSpPr txBox="1">
            <a:spLocks/>
          </p:cNvSpPr>
          <p:nvPr/>
        </p:nvSpPr>
        <p:spPr>
          <a:xfrm>
            <a:off x="1199456" y="452263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Implementation Details</a:t>
            </a:r>
            <a:endParaRPr lang="en-PH" sz="31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9D2F7E-EE55-A797-11D3-AB921C30DCA8}"/>
              </a:ext>
            </a:extLst>
          </p:cNvPr>
          <p:cNvSpPr txBox="1">
            <a:spLocks/>
          </p:cNvSpPr>
          <p:nvPr/>
        </p:nvSpPr>
        <p:spPr>
          <a:xfrm>
            <a:off x="4187788" y="1196752"/>
            <a:ext cx="2808312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CSS</a:t>
            </a:r>
          </a:p>
          <a:p>
            <a:pPr marL="0" indent="0">
              <a:buNone/>
            </a:pPr>
            <a:r>
              <a:rPr lang="en-US" dirty="0"/>
              <a:t>Used for:</a:t>
            </a:r>
          </a:p>
          <a:p>
            <a:r>
              <a:rPr lang="en-US" dirty="0"/>
              <a:t>Background images </a:t>
            </a:r>
          </a:p>
          <a:p>
            <a:r>
              <a:rPr lang="en-US" dirty="0"/>
              <a:t>Styling </a:t>
            </a:r>
          </a:p>
          <a:p>
            <a:r>
              <a:rPr lang="en-US" dirty="0"/>
              <a:t>Responsive design </a:t>
            </a:r>
          </a:p>
          <a:p>
            <a:r>
              <a:rPr lang="en-US" dirty="0"/>
              <a:t>Gantt chart formatting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C4F306-EE8D-C5BD-CD1E-3D36877DA926}"/>
              </a:ext>
            </a:extLst>
          </p:cNvPr>
          <p:cNvSpPr txBox="1">
            <a:spLocks/>
          </p:cNvSpPr>
          <p:nvPr/>
        </p:nvSpPr>
        <p:spPr>
          <a:xfrm>
            <a:off x="7536160" y="1177888"/>
            <a:ext cx="2808312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JavaScript</a:t>
            </a:r>
          </a:p>
          <a:p>
            <a:pPr marL="0" indent="0">
              <a:buNone/>
            </a:pPr>
            <a:r>
              <a:rPr lang="en-US" dirty="0"/>
              <a:t>Used to:</a:t>
            </a:r>
          </a:p>
          <a:p>
            <a:r>
              <a:rPr lang="en-US" dirty="0"/>
              <a:t>Read input values </a:t>
            </a:r>
          </a:p>
          <a:p>
            <a:r>
              <a:rPr lang="en-US" dirty="0"/>
              <a:t>Sort processes </a:t>
            </a:r>
          </a:p>
          <a:p>
            <a:r>
              <a:rPr lang="en-US" dirty="0"/>
              <a:t>Calculate scheduling data </a:t>
            </a:r>
          </a:p>
          <a:p>
            <a:r>
              <a:rPr lang="en-US" dirty="0"/>
              <a:t>Generate Gantt chart dynamically</a:t>
            </a:r>
          </a:p>
        </p:txBody>
      </p:sp>
    </p:spTree>
    <p:extLst>
      <p:ext uri="{BB962C8B-B14F-4D97-AF65-F5344CB8AC3E}">
        <p14:creationId xmlns:p14="http://schemas.microsoft.com/office/powerpoint/2010/main" val="111321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E773C-77DF-9C71-3A40-B93DCDA8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10585175" cy="4896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Gantt Chart visually represents CPU scheduling.</a:t>
            </a:r>
          </a:p>
          <a:p>
            <a:pPr marL="0" indent="0">
              <a:buNone/>
            </a:pPr>
            <a:r>
              <a:rPr lang="en-US" dirty="0"/>
              <a:t>Each block in the chart shows:</a:t>
            </a:r>
          </a:p>
          <a:p>
            <a:r>
              <a:rPr lang="en-US" dirty="0"/>
              <a:t>Process name </a:t>
            </a:r>
          </a:p>
          <a:p>
            <a:r>
              <a:rPr lang="en-US" dirty="0"/>
              <a:t>Execution duration </a:t>
            </a:r>
          </a:p>
          <a:p>
            <a:r>
              <a:rPr lang="en-US" dirty="0"/>
              <a:t>Start time </a:t>
            </a:r>
          </a:p>
          <a:p>
            <a:r>
              <a:rPr lang="en-US" dirty="0"/>
              <a:t>Completion time </a:t>
            </a:r>
          </a:p>
          <a:p>
            <a:pPr marL="0" indent="0">
              <a:buNone/>
            </a:pPr>
            <a:r>
              <a:rPr lang="en-US" dirty="0"/>
              <a:t>Larger burst times create larger blocks.</a:t>
            </a:r>
          </a:p>
          <a:p>
            <a:pPr marL="0" indent="0">
              <a:buNone/>
            </a:pPr>
            <a:r>
              <a:rPr lang="en-US" dirty="0"/>
              <a:t>The chart improves understanding of process execution order.</a:t>
            </a:r>
          </a:p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B18092-43BD-CF2D-4D7E-8C5D9D60737F}"/>
              </a:ext>
            </a:extLst>
          </p:cNvPr>
          <p:cNvSpPr txBox="1">
            <a:spLocks/>
          </p:cNvSpPr>
          <p:nvPr/>
        </p:nvSpPr>
        <p:spPr>
          <a:xfrm>
            <a:off x="1199456" y="452263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Gantt Chart Explanation</a:t>
            </a:r>
            <a:endParaRPr lang="en-PH" sz="3100" dirty="0"/>
          </a:p>
        </p:txBody>
      </p:sp>
    </p:spTree>
    <p:extLst>
      <p:ext uri="{BB962C8B-B14F-4D97-AF65-F5344CB8AC3E}">
        <p14:creationId xmlns:p14="http://schemas.microsoft.com/office/powerpoint/2010/main" val="335052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C86347D-8B80-1379-4BCF-FEE58B888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285087"/>
              </p:ext>
            </p:extLst>
          </p:nvPr>
        </p:nvGraphicFramePr>
        <p:xfrm>
          <a:off x="1199456" y="1485437"/>
          <a:ext cx="9144000" cy="134365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42294633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171714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66042591"/>
                    </a:ext>
                  </a:extLst>
                </a:gridCol>
              </a:tblGrid>
              <a:tr h="44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Arrival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Burst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951384"/>
                  </a:ext>
                </a:extLst>
              </a:tr>
              <a:tr h="44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dirty="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85738"/>
                  </a:ext>
                </a:extLst>
              </a:tr>
              <a:tr h="447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38436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3DACA98-A2FF-3A79-F7CD-B565DCCA1940}"/>
              </a:ext>
            </a:extLst>
          </p:cNvPr>
          <p:cNvSpPr txBox="1">
            <a:spLocks/>
          </p:cNvSpPr>
          <p:nvPr/>
        </p:nvSpPr>
        <p:spPr>
          <a:xfrm>
            <a:off x="1055440" y="332656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Sample Input and Output</a:t>
            </a:r>
            <a:endParaRPr lang="en-PH" sz="31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19F9E0C-3385-9FBC-C2FC-C72F8664FCD3}"/>
              </a:ext>
            </a:extLst>
          </p:cNvPr>
          <p:cNvSpPr txBox="1">
            <a:spLocks/>
          </p:cNvSpPr>
          <p:nvPr/>
        </p:nvSpPr>
        <p:spPr>
          <a:xfrm>
            <a:off x="1055710" y="933129"/>
            <a:ext cx="8496944" cy="4320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2400" b="1" dirty="0"/>
              <a:t>Sample Input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66B017-E937-7CE9-C4AC-749B9EFDD6E9}"/>
              </a:ext>
            </a:extLst>
          </p:cNvPr>
          <p:cNvSpPr txBox="1">
            <a:spLocks/>
          </p:cNvSpPr>
          <p:nvPr/>
        </p:nvSpPr>
        <p:spPr>
          <a:xfrm>
            <a:off x="1055440" y="2929068"/>
            <a:ext cx="8496944" cy="4320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2400" b="1" dirty="0"/>
              <a:t>Sample Input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0A16081-863A-DCC5-A719-F71891F4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884044"/>
              </p:ext>
            </p:extLst>
          </p:nvPr>
        </p:nvGraphicFramePr>
        <p:xfrm>
          <a:off x="1226704" y="3520212"/>
          <a:ext cx="914400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404654323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7269252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0462147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07476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Turnaround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Waiting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71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755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H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9341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6D29DED-4A1A-C51E-8A06-D0FA4E218AFC}"/>
              </a:ext>
            </a:extLst>
          </p:cNvPr>
          <p:cNvSpPr txBox="1"/>
          <p:nvPr/>
        </p:nvSpPr>
        <p:spPr>
          <a:xfrm>
            <a:off x="1252532" y="4777634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Average Values</a:t>
            </a:r>
          </a:p>
          <a:p>
            <a:pPr>
              <a:buNone/>
            </a:pPr>
            <a:r>
              <a:rPr lang="en-US" dirty="0"/>
              <a:t>Average Waiting Time = 4.5</a:t>
            </a:r>
          </a:p>
          <a:p>
            <a:pPr>
              <a:buNone/>
            </a:pPr>
            <a:r>
              <a:rPr lang="en-US" dirty="0"/>
              <a:t>Average Turnaround Time = 13</a:t>
            </a:r>
          </a:p>
        </p:txBody>
      </p:sp>
    </p:spTree>
    <p:extLst>
      <p:ext uri="{BB962C8B-B14F-4D97-AF65-F5344CB8AC3E}">
        <p14:creationId xmlns:p14="http://schemas.microsoft.com/office/powerpoint/2010/main" val="3461736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48D43-0256-1EF3-8462-D633C6BE5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2" y="1268760"/>
            <a:ext cx="10448156" cy="48272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Simple and easy to implement </a:t>
            </a:r>
          </a:p>
          <a:p>
            <a:r>
              <a:rPr lang="en-US" dirty="0"/>
              <a:t>Fair according to arrival order </a:t>
            </a:r>
          </a:p>
          <a:p>
            <a:r>
              <a:rPr lang="en-US" dirty="0"/>
              <a:t>Easy visualization </a:t>
            </a:r>
          </a:p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/>
              <a:t>Long waiting time possible </a:t>
            </a:r>
          </a:p>
          <a:p>
            <a:r>
              <a:rPr lang="en-US" dirty="0"/>
              <a:t>Convoy effect may occur </a:t>
            </a:r>
          </a:p>
          <a:p>
            <a:r>
              <a:rPr lang="en-US" dirty="0"/>
              <a:t>Not efficient for short processes </a:t>
            </a:r>
          </a:p>
          <a:p>
            <a:endParaRPr lang="en-PH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F8283F-D8B4-EB25-B1EA-884E65C56197}"/>
              </a:ext>
            </a:extLst>
          </p:cNvPr>
          <p:cNvSpPr txBox="1">
            <a:spLocks/>
          </p:cNvSpPr>
          <p:nvPr/>
        </p:nvSpPr>
        <p:spPr>
          <a:xfrm>
            <a:off x="1199456" y="452263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Advantages and Disadvantages</a:t>
            </a:r>
            <a:endParaRPr lang="en-PH" sz="3100" dirty="0"/>
          </a:p>
        </p:txBody>
      </p:sp>
    </p:spTree>
    <p:extLst>
      <p:ext uri="{BB962C8B-B14F-4D97-AF65-F5344CB8AC3E}">
        <p14:creationId xmlns:p14="http://schemas.microsoft.com/office/powerpoint/2010/main" val="4166082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75EB-9211-EFDC-1158-14840159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028" y="1196752"/>
            <a:ext cx="10345555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During development, the following challenges were faced:</a:t>
            </a:r>
          </a:p>
          <a:p>
            <a:r>
              <a:rPr lang="en-US" dirty="0"/>
              <a:t>Dynamic table row generation </a:t>
            </a:r>
          </a:p>
          <a:p>
            <a:r>
              <a:rPr lang="en-US" dirty="0"/>
              <a:t>Gantt chart spacing </a:t>
            </a:r>
          </a:p>
          <a:p>
            <a:r>
              <a:rPr lang="en-US" dirty="0"/>
              <a:t>Correct scheduling calculations </a:t>
            </a:r>
          </a:p>
          <a:p>
            <a:r>
              <a:rPr lang="en-US" dirty="0"/>
              <a:t>Responsive design issues </a:t>
            </a:r>
          </a:p>
          <a:p>
            <a:r>
              <a:rPr lang="en-US" dirty="0"/>
              <a:t>Process sorting implementation</a:t>
            </a:r>
          </a:p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5A743D-ABC2-0DC6-970C-DC190AB5D785}"/>
              </a:ext>
            </a:extLst>
          </p:cNvPr>
          <p:cNvSpPr txBox="1">
            <a:spLocks/>
          </p:cNvSpPr>
          <p:nvPr/>
        </p:nvSpPr>
        <p:spPr>
          <a:xfrm>
            <a:off x="983432" y="327248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Challenges Faced</a:t>
            </a:r>
            <a:endParaRPr lang="en-PH" sz="3100" dirty="0"/>
          </a:p>
        </p:txBody>
      </p:sp>
    </p:spTree>
    <p:extLst>
      <p:ext uri="{BB962C8B-B14F-4D97-AF65-F5344CB8AC3E}">
        <p14:creationId xmlns:p14="http://schemas.microsoft.com/office/powerpoint/2010/main" val="236833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7432-6BB7-8370-0C19-15525E24B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052736"/>
            <a:ext cx="10441160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FCFS Scheduling Simulator successfully demonstrates the working of the FCFS CPU scheduling algorithm.</a:t>
            </a:r>
          </a:p>
          <a:p>
            <a:pPr marL="0" indent="0">
              <a:buNone/>
            </a:pPr>
            <a:r>
              <a:rPr lang="en-US" dirty="0"/>
              <a:t>The project helps users understand:</a:t>
            </a:r>
          </a:p>
          <a:p>
            <a:r>
              <a:rPr lang="en-US" dirty="0"/>
              <a:t>CPU Scheduling </a:t>
            </a:r>
          </a:p>
          <a:p>
            <a:r>
              <a:rPr lang="en-US" dirty="0"/>
              <a:t>Process execution </a:t>
            </a:r>
          </a:p>
          <a:p>
            <a:r>
              <a:rPr lang="en-US" dirty="0"/>
              <a:t>Waiting time calculation </a:t>
            </a:r>
          </a:p>
          <a:p>
            <a:r>
              <a:rPr lang="en-US" dirty="0"/>
              <a:t>Turnaround time calculation </a:t>
            </a:r>
          </a:p>
          <a:p>
            <a:r>
              <a:rPr lang="en-US" dirty="0"/>
              <a:t>Gantt Chart visualization </a:t>
            </a:r>
          </a:p>
          <a:p>
            <a:pPr marL="0" indent="0">
              <a:buNone/>
            </a:pPr>
            <a:r>
              <a:rPr lang="en-US" dirty="0"/>
              <a:t>The simulator is interactive, educational, and useful for Operating System learning.</a:t>
            </a:r>
          </a:p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2D6829-CDD6-EF47-04B5-4293201860AF}"/>
              </a:ext>
            </a:extLst>
          </p:cNvPr>
          <p:cNvSpPr txBox="1">
            <a:spLocks/>
          </p:cNvSpPr>
          <p:nvPr/>
        </p:nvSpPr>
        <p:spPr>
          <a:xfrm>
            <a:off x="983432" y="327248"/>
            <a:ext cx="8496944" cy="60047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3200" dirty="0"/>
              <a:t>Conclusion</a:t>
            </a:r>
            <a:endParaRPr lang="en-PH" sz="3100" dirty="0"/>
          </a:p>
        </p:txBody>
      </p:sp>
    </p:spTree>
    <p:extLst>
      <p:ext uri="{BB962C8B-B14F-4D97-AF65-F5344CB8AC3E}">
        <p14:creationId xmlns:p14="http://schemas.microsoft.com/office/powerpoint/2010/main" val="2705489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73187E3-E4F1-7342-E2B4-B6BB789BB0CF}"/>
              </a:ext>
            </a:extLst>
          </p:cNvPr>
          <p:cNvSpPr txBox="1"/>
          <p:nvPr/>
        </p:nvSpPr>
        <p:spPr>
          <a:xfrm>
            <a:off x="767408" y="764704"/>
            <a:ext cx="59275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0000" dirty="0">
                <a:solidFill>
                  <a:schemeClr val="accent1">
                    <a:lumMod val="75000"/>
                  </a:schemeClr>
                </a:solidFill>
              </a:rPr>
              <a:t>Thank </a:t>
            </a:r>
          </a:p>
          <a:p>
            <a:r>
              <a:rPr lang="en-PH" sz="10000" dirty="0">
                <a:solidFill>
                  <a:schemeClr val="accent1">
                    <a:lumMod val="75000"/>
                  </a:schemeClr>
                </a:solidFill>
              </a:rPr>
              <a:t>      You!</a:t>
            </a:r>
            <a:r>
              <a:rPr lang="en-PH" sz="9600" dirty="0"/>
              <a:t>😊</a:t>
            </a:r>
            <a:endParaRPr lang="en-PH" sz="10000" dirty="0"/>
          </a:p>
        </p:txBody>
      </p:sp>
    </p:spTree>
    <p:extLst>
      <p:ext uri="{BB962C8B-B14F-4D97-AF65-F5344CB8AC3E}">
        <p14:creationId xmlns:p14="http://schemas.microsoft.com/office/powerpoint/2010/main" val="185764068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47</TotalTime>
  <Words>659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Candara</vt:lpstr>
      <vt:lpstr>Consolas</vt:lpstr>
      <vt:lpstr>Tech Computer 16x9</vt:lpstr>
      <vt:lpstr>FCFS Scheduling Simulator Using HTML, CSS, and JavaScript </vt:lpstr>
      <vt:lpstr>Table of Contents</vt:lpstr>
      <vt:lpstr>Introduction</vt:lpstr>
      <vt:lpstr>Objectives</vt:lpstr>
      <vt:lpstr>Technologies Used</vt:lpstr>
      <vt:lpstr>FCFS Scheduling Algorithm</vt:lpstr>
      <vt:lpstr>Working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Mae Aventurado</dc:creator>
  <cp:lastModifiedBy>Leila Mae Aventurado</cp:lastModifiedBy>
  <cp:revision>1</cp:revision>
  <dcterms:created xsi:type="dcterms:W3CDTF">2026-05-12T14:02:47Z</dcterms:created>
  <dcterms:modified xsi:type="dcterms:W3CDTF">2026-05-12T14:50:40Z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